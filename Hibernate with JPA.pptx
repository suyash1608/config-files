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9588C4D-E50C-422C-9B94-CC79D53C05D1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8AA305-BBCE-4AEC-8E31-B7A46F0EB6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F3811B-BE72-4EFE-B54D-6F92E3CF54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CA9709-17DF-4E74-974D-B4CD99C973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7F64EA-2DE6-44CD-BD1A-E14B4C26E2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EC45C9-9BE0-4CCF-B8BF-A27607D0A4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DCD539-6056-41A8-965A-0AD017FABD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7F62D5-D3B8-4BD5-AF68-646611DBC1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8A847F-752D-49C2-93C6-CAFA02021D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B02FAC-0F78-401D-B32C-11F9F494E4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EE21A1-C32C-4AA6-A22B-D2C58A2C3A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E79B58-8C70-4857-A08D-20201503B9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1E3C97-FDCE-48B3-A4CD-A2CC31E207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1DEB17-1624-4FB5-A834-573828017D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FF82516-607F-4FFB-B003-26CE4F20D4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38CC53-DC1C-41E1-BF0D-8E53A9C83E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A9E497-0F8D-4BCC-B317-BF53CE184C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16E034-F41F-45D4-BA55-45ECFC9E80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3F6B54-E5AF-4AF2-97C9-C3FE4350CD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456E97-6BBC-489C-A9E4-4793873160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6D53C7-D1A1-455C-B5D2-439253C0BF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8B24CA-E211-4C3D-A594-9EB83DAA26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012A39-D7B1-438B-BAE1-BF0713D7FF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81CE61-2C92-45DC-ABF0-58F9512F60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D86624-00F7-4599-B796-CA38EBF183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B7C786-F0CD-4324-B0DB-47A72E9B56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B1EF88-2E6F-477F-87C0-3B8129F6EB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7D1230-77AF-4F3A-9CF9-1F0080489A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2E57D5-96E2-4C3F-A854-224CC99709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4D29CF-34C1-4C69-A30C-F17DEBE6F2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3137B4-E883-4146-BF28-4C50DD29A6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B4E414-4E32-4675-8E96-D3A7D563CA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E2A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418320" y="-2011680"/>
            <a:ext cx="5485680" cy="5485680"/>
          </a:xfrm>
          <a:prstGeom prst="ellipse">
            <a:avLst/>
          </a:prstGeom>
          <a:solidFill>
            <a:srgbClr val="243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645920" y="4754880"/>
            <a:ext cx="3839760" cy="3839760"/>
          </a:xfrm>
          <a:prstGeom prst="ellipse">
            <a:avLst/>
          </a:prstGeom>
          <a:solidFill>
            <a:srgbClr val="243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914400" y="2331720"/>
            <a:ext cx="10332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pc="2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HIBERNATE</a:t>
            </a:r>
            <a:endParaRPr lang="en-IN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914400" y="342900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7D3DD"/>
                </a:solidFill>
                <a:effectLst/>
                <a:uFillTx/>
                <a:latin typeface="Calibri"/>
                <a:ea typeface="Calibri"/>
              </a:rPr>
              <a:t>A Practical Guide to Java ORM, JPA, and Object Association Mapping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914400" y="4160520"/>
            <a:ext cx="502200" cy="81720"/>
          </a:xfrm>
          <a:prstGeom prst="rect">
            <a:avLst/>
          </a:prstGeom>
          <a:solidFill>
            <a:srgbClr val="C97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914400" y="4389120"/>
            <a:ext cx="8686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8FA2B3"/>
                </a:solidFill>
                <a:effectLst/>
                <a:uFillTx/>
                <a:latin typeface="Calibri"/>
                <a:ea typeface="Calibri"/>
              </a:rPr>
              <a:t>From JDBC's boilerplate to POJOs, sessions, HQL, JPA annotations, and association mapping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What Is a Framework?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A framework is a body of pre-written, reusable code that a programmer builds an application on top of.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It provides structure but does nothing on its own — the programmer still has to write and control the application logic.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A Java framework is a collection of classes, interfaces, and supporting tools.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Examples: Hibernate, Spring, iBATIS, Tapestry, Struts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Two categories of frameworks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Invasive — forces the programmer to extend its classes or implement its interfaces (e.g. EJB, Struts)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Non-invasive — does not force the programmer to extend classes or implement interfaces (e.g. Hibernate, Spring, Tapestry)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1 · Foundations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The Problem With Plain JDBC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1. Boilerplate code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Every insert, update, delete, and fetch repeats the same five steps: load the driver, open a connection, create a statement, execute SQL, close the resources.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2. No automatic table creation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JDBC cannot create the underlying schema for you.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3. No built-in primary-key strategy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You must generate and manage primary keys yourself.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4. Complex multi-table joins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Fetching related data from several tables means hand-written join queries.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5. No caching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Every request travels to the database, increasing traffic and reducing performance — a cache is a temporary storage layer that would serve repeat requests instead.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1 · Foundations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POJO — Plain Old Java Object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Definition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A POJO is a class with no special restrictions beyond the rules of the Java language itself — no required base class, no required interface.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Rules for a POJO class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Must be public, with all fields private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Must provide a public no-argument constructor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Must provide public getters and setters for every field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Must not extend a pre-specified class or implement a pre-specified interface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Why it matters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POJOs load easily (only java.lang.Object's methods apply) and keep applications lightweight — a framework built on POJOs is called a light-weight framework.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1 · Foundations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FOUNDATIONS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ORM — Object-Relational Mapping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Definition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ORM is the process of mapping an object to a relational model (a table), achieved with the help of an ORM tool such as Hibernate, iBATIS, or Tapestry.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An ORM tool lets a Java application work with objects instead of hand-written SQL, and uses a mapping file to convert classes into tables and fields into columns.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Entity class (or POJO class) — the class that represents a table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Must be public, with private fields and a no-argument constructor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Must expose public getters and setters for every field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Must have a field that represents the primary key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Every entity class maps to a table; every field maps to a column; every object maps to a row.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1 · Foundations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HIBERNATE ESSENTIALS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What Is Hibernate?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Hibernate is an open-source, non-invasive, light-weight ORM tool used to achieve object-relational mapping.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It lets you work directly with objects instead of writing SQL, simplifying the interaction between a Java application and the database server.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Hibernate also implements JPA, so JPA specifications can be used alongside it.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A .cfg.xml file supplies the driver class, URL, username, and password Hibernate needs to connect.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2 · Hibernate Essentials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HIBERNATE ESSENTIALS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Advantages of Hibernate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548640" y="1600200"/>
            <a:ext cx="5074200" cy="4571280"/>
          </a:xfrm>
          <a:prstGeom prst="rect">
            <a:avLst/>
          </a:prstGeom>
          <a:solidFill>
            <a:srgbClr val="F2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6172200" y="1600200"/>
            <a:ext cx="5074200" cy="4571280"/>
          </a:xfrm>
          <a:prstGeom prst="rect">
            <a:avLst/>
          </a:prstGeom>
          <a:solidFill>
            <a:srgbClr val="F2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868680" y="1856160"/>
            <a:ext cx="4434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B7A7A"/>
                </a:solidFill>
                <a:effectLst/>
                <a:uFillTx/>
                <a:latin typeface="Calibri"/>
                <a:ea typeface="Calibri"/>
              </a:rPr>
              <a:t>Core benefits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6492240" y="1856160"/>
            <a:ext cx="4434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Performance &amp; flexibility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868680" y="2377440"/>
            <a:ext cx="443412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Open-source and non-invasive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Light-weight, thanks to its POJO-based design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Supports automatic table creation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Provides a strategy for primary-key generation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6492240" y="2377440"/>
            <a:ext cx="443412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Two-level cache mechanism (1st and 2nd level) reduces traffic between the application and the database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Supports database dialects, so the same code adapts across database versions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Supports HQL for database-independent queries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2 · Hibernate Essentials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HIBERNATE ESSENTIALS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Dialect, and HQL vs SQL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4" name="Table 0"/>
          <p:cNvGraphicFramePr/>
          <p:nvPr/>
        </p:nvGraphicFramePr>
        <p:xfrm>
          <a:off x="548640" y="1600200"/>
          <a:ext cx="10789560" cy="228600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SQL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HQL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1E2A38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select * from Employee;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select e from Employee e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select * from Employee where id = ?;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select e from Employee e where e.id = :id  (named parameter)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select * from Employee where salary = ?;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select e from Employee e where e.salary = ?1  (numbered parameter)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select name from Employee;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select e.name from Employee e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5" name="Text 2"/>
          <p:cNvSpPr/>
          <p:nvPr/>
        </p:nvSpPr>
        <p:spPr>
          <a:xfrm>
            <a:off x="548640" y="6172200"/>
            <a:ext cx="1078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A dialect is a Hibernate component that generates SQL matched to a specific database version (e.g. MySQL5Dialect, MySQL8Dialect). HQL is database-independent and refers to entity class names rather than table names.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2 · Hibernate Essentials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HIBERNATE ESSENTIALS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Setting Up a Hibernate Project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Step 1 — Create a simple Maven project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Step 2 — Add two dependencies to pom.xml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Core (5.6.15 Final)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MySQL Connector/J (5.1.6)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Both dependencies can be copied from Maven Repository and pasted inside the &lt;dependencies&gt; tag — the root tag of pom.xml is &lt;project&gt;.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Step 3 — Give Hibernate the database connection details through a configuration file (hibernate.cfg.xml).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2 · Hibernate Essentials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-2286000" y="-2286000"/>
            <a:ext cx="6400080" cy="6400080"/>
          </a:xfrm>
          <a:prstGeom prst="ellipse">
            <a:avLst/>
          </a:prstGeom>
          <a:solidFill>
            <a:srgbClr val="243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914400" y="2286000"/>
            <a:ext cx="27424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0" b="1" u="none" strike="noStrike">
                <a:solidFill>
                  <a:srgbClr val="24344A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914400" y="3429000"/>
            <a:ext cx="9600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JPA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914400" y="4343400"/>
            <a:ext cx="502200" cy="81720"/>
          </a:xfrm>
          <a:prstGeom prst="rect">
            <a:avLst/>
          </a:prstGeom>
          <a:solidFill>
            <a:srgbClr val="C97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914400" y="457200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AB8C4"/>
                </a:solidFill>
                <a:effectLst/>
                <a:uFillTx/>
                <a:latin typeface="Calibri"/>
                <a:ea typeface="Calibri"/>
              </a:rPr>
              <a:t>The specification behind Hibernate — annotations, EntityManager, and JPQL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JPA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What Is JPA?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Hibernate alone couples an application tightly to Configuration, SessionFactory, Session, Transaction, and Query — switching ORM tools later means rewriting all of it.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JPA (Jakarta/Java Persistence API) is a specification, not an implementation — it defines a contract that ORM tools can implement (Hibernate, TopLink, and others), achieving loose coupling between the application and the ORM tool in use.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JPA still needs an implementation such as Hibernate to actually talk to the database.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JPA version history: 1.0 (2006) · 2.0 (2009) · 2.1 (2013) · 2.2 (2017) · 3.1 (2022) · 3.2 (2024)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4 · JPA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JPA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Core JPA Annotations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548640" y="1600200"/>
            <a:ext cx="5074200" cy="4571280"/>
          </a:xfrm>
          <a:prstGeom prst="rect">
            <a:avLst/>
          </a:prstGeom>
          <a:solidFill>
            <a:srgbClr val="F2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6172200" y="1600200"/>
            <a:ext cx="5074200" cy="4571280"/>
          </a:xfrm>
          <a:prstGeom prst="rect">
            <a:avLst/>
          </a:prstGeom>
          <a:solidFill>
            <a:srgbClr val="F2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868680" y="1856160"/>
            <a:ext cx="4434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B7A7A"/>
                </a:solidFill>
                <a:effectLst/>
                <a:uFillTx/>
                <a:latin typeface="Calibri"/>
                <a:ea typeface="Calibri"/>
              </a:rPr>
              <a:t>Marking the entity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6492240" y="1856160"/>
            <a:ext cx="4434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Generating values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868680" y="2377440"/>
            <a:ext cx="443412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@Entity — class-level annotation that marks a class as a database entity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@Table — provides table details for an @Entity-annotated class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@Id — marks a field as the primary key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6492240" y="2377440"/>
            <a:ext cx="443412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@GeneratedValue — marks a field as auto-generated, with a strategy from GenerationType: IDENTITY, SEQUENCE, AUTO, TABLE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@Column — describes a mapped column, with attributes such as name, unique, nullable, length, and precision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4 · JPA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JPA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Generation Strategies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5" name="Table 0"/>
          <p:cNvGraphicFramePr/>
          <p:nvPr/>
        </p:nvGraphicFramePr>
        <p:xfrm>
          <a:off x="548640" y="1600200"/>
          <a:ext cx="10789560" cy="234864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Strategy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Behavior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1E2A38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IDENTITY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The database itself generates the primary-key value.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SEQUENCE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database sequence object generates unique identifiers — well suited to Oracle and PostgreSQL.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TABLE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separate table tracks the next available id for each entity type.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AUTO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The persistence provider (e.g. Hibernate) picks an appropriate strategy for the underlying database — a safe default when unsure.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86" name="Text 2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4 · JPA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JPA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48640" y="658440"/>
            <a:ext cx="10789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persistence.xml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548640" y="1207080"/>
            <a:ext cx="10789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The JPA configuration file, created in META-INF under src/main/resources. Root tag: &lt;persistence&gt;; sub-tag: &lt;persistence-unit&gt;.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548640" y="1737360"/>
            <a:ext cx="10789200" cy="4434120"/>
          </a:xfrm>
          <a:prstGeom prst="rect">
            <a:avLst/>
          </a:prstGeom>
          <a:solidFill>
            <a:srgbClr val="1621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822960" y="1938600"/>
            <a:ext cx="10240560" cy="40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&lt;persistence&gt;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&lt;persistence-unit name="dev"&gt;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  &lt;provider&gt;org.hibernate.jpa.HibernatePersistenceProvider&lt;/provider&gt;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  &lt;properties&gt;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    &lt;property name="javax.persistence.jdbc.driver" value="com.mysql.jdbc.Driver"/&gt;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    &lt;property name="javax.persistence.jdbc.url"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      value="jdbc:mysql://localhost:3306/jpa_demo?createDatabaseIfNotExist=true"/&gt;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    &lt;property name="javax.persistence.jdbc.user" value="root"/&gt;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    &lt;property name="javax.persistence.jdbc.password" value="admin"/&gt;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    &lt;property name="hibernate.dialect" value="org.hibernate.dialect.MySQL55Dialect"/&gt;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    &lt;property name="hibernate.hbm2ddl.auto" value="update"/&gt;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    &lt;property name="hibernate.show_sql" value="true"/&gt;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  &lt;/properties&gt;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  &lt;/persistence-unit&gt;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E7ECEF"/>
                </a:solidFill>
                <a:effectLst/>
                <a:uFillTx/>
                <a:latin typeface="Consolas"/>
                <a:ea typeface="Consolas"/>
              </a:rPr>
              <a:t>&lt;/persistence&gt;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548640" y="628200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An incorrect persistence-unit name surfaces as a PersistenceException.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4 · JPA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JPA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The EntityManager Ecosystem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548640" y="1600200"/>
            <a:ext cx="5074200" cy="4571280"/>
          </a:xfrm>
          <a:prstGeom prst="rect">
            <a:avLst/>
          </a:prstGeom>
          <a:solidFill>
            <a:srgbClr val="F2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6172200" y="1600200"/>
            <a:ext cx="5074200" cy="4571280"/>
          </a:xfrm>
          <a:prstGeom prst="rect">
            <a:avLst/>
          </a:prstGeom>
          <a:solidFill>
            <a:srgbClr val="F2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868680" y="1856160"/>
            <a:ext cx="4434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B7A7A"/>
                </a:solidFill>
                <a:effectLst/>
                <a:uFillTx/>
                <a:latin typeface="Calibri"/>
                <a:ea typeface="Calibri"/>
              </a:rPr>
              <a:t>Factory &amp; Manager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6492240" y="1856160"/>
            <a:ext cx="4434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Transactions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868680" y="2377440"/>
            <a:ext cx="443412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Persistence — reads persistence.xml and creates an EntityManagerFactory for a given persistence-unit name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EntityManagerFactory — creates and manages EntityManager instances, and maintains the second-level cache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EntityManager — a lightweight object representing a single unit of work with the database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6492240" y="2377440"/>
            <a:ext cx="443412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EntityTransaction — begin() and commit() manage the unit of work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Skipping begin() throws IllegalStateException: "Transaction not successfully started"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EntityManagerFactory fac = Persistence.createEntityManagerFactory("dev");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4 · JPA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JPA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JPA CRUD Operations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persist(Object) — saves the entity; throws IllegalArgumentException if the argument is null or not an entity; returns void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find(Class&lt;T&gt;, Object primaryKey) — fetches by primary key, returning the matching object or null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merge(Object) — saves the object if no identifier is present, or updates the record if one is; every field should be set, or unset fields are overwritten with null/0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remove(Object) — deletes a persistent object; throws IllegalArgumentException on a detached or transient object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Best practice for updates: fetch with find() first, then modify — changes to a persistent object apply directly to the row.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4 · JPA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JPA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JPQL, Named Queries, and Native Queries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javax.persistence.Query executes JPQL and is created three ways on EntityManager: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createQuery(String JPQL) — pass the query text directly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createNamedQuery(String name) — pass the name of a query declared with @NamedQuery(name, query) above the entity class; group several with @NamedQueries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createNativeQuery(String sql, Class resultType) — executes plain SQL; omitting the result-type class causes a ClassCastException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TypedQuery&lt;T&gt; adds type safety: TypedQuery&lt;Merchant&gt; q = em.createNamedQuery("verifyMerchant", Merchant.class);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JPA's Query interface predates Java generics, so — unlike Hibernate's Query&lt;T&gt; — it is not generic.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4 · JPA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-2286000" y="-2286000"/>
            <a:ext cx="6400080" cy="6400080"/>
          </a:xfrm>
          <a:prstGeom prst="ellipse">
            <a:avLst/>
          </a:prstGeom>
          <a:solidFill>
            <a:srgbClr val="243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914400" y="2286000"/>
            <a:ext cx="27424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0" b="1" u="none" strike="noStrike">
                <a:solidFill>
                  <a:srgbClr val="24344A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IN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914400" y="3429000"/>
            <a:ext cx="9600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Association Mapping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"/>
          <p:cNvSpPr/>
          <p:nvPr/>
        </p:nvSpPr>
        <p:spPr>
          <a:xfrm>
            <a:off x="914400" y="4343400"/>
            <a:ext cx="502200" cy="81720"/>
          </a:xfrm>
          <a:prstGeom prst="rect">
            <a:avLst/>
          </a:prstGeom>
          <a:solidFill>
            <a:srgbClr val="C97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914400" y="457200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AB8C4"/>
                </a:solidFill>
                <a:effectLst/>
                <a:uFillTx/>
                <a:latin typeface="Calibri"/>
                <a:ea typeface="Calibri"/>
              </a:rPr>
              <a:t>Modeling relationships between entities: cardinality, ownership, cascade, and fetch strategy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ASSOCIATION MAPPING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Association Mapping at a Glance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Table 0"/>
          <p:cNvGraphicFramePr/>
          <p:nvPr/>
        </p:nvGraphicFramePr>
        <p:xfrm>
          <a:off x="548640" y="1600200"/>
          <a:ext cx="10788840" cy="1891440"/>
        </p:xfrm>
        <a:graphic>
          <a:graphicData uri="http://schemas.openxmlformats.org/drawingml/2006/table">
            <a:tbl>
              <a:tblPr/>
              <a:tblGrid>
                <a:gridCol w="3596400"/>
                <a:gridCol w="3596400"/>
                <a:gridCol w="35964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Relationship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Example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Tables Created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1E2A38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One-to-One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One person has one PAN card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 tables; 1 foreign key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One-to-Many / Many-to-One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One department has many employees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Uni: 3 tables (join table). Bi: 3 tables, but the FK can collapse to 1 via ownership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Many-to-Many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Many students attend many batches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 tables uni-directional; up to 4 bi-directional (collapsible to 3 with @JoinTable)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4" name="Text 2"/>
          <p:cNvSpPr/>
          <p:nvPr/>
        </p:nvSpPr>
        <p:spPr>
          <a:xfrm>
            <a:off x="548640" y="6172200"/>
            <a:ext cx="1078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Uni-directional mapping lets you navigate from parent to child only. Bi-directional mapping lets you navigate both ways, which introduces the owning-side / non-owning-side distinction.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5 · Association Mapping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ASSOCIATION MAPPING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One-to-One Mapping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Uni-directional example: Person → PanCard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Annotate a PanCard-typed field in Person with @OneToOne; two tables are created, and Person gains a foreign key (card_id) referencing PanCard.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Both the parent and the child must be persisted — persisting only Person throws TransientPropertyValueException, unless @OneToOne(cascade = CascadeType.ALL) is used.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Bi-directional example: User ↔ AadharCard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Both classes hold a reference to each other, so without care, both tables end up with a foreign key.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The default fetch type for @OneToOne is EAGER — fetching the parent loads the child automatically.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5 · Association Mapping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ASSOCIATION MAPPING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Owning Side vs. Non-Owning Side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In a bi-directional mapping, only one table needs to keep the foreign key.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Owning side — the table that keeps the foreign key, 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Non-owning (inverse) side — the table the FK is removed from, marked with mappedBy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@OneToOne(mappedBy = "card") private User user;  — tells JPA that the "card" field on User already manages the relationship, so AadharCard needs no extra FK column.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mappedBy applies to @OneToOne, @OneToMany, and @ManyToMany. It does not apply to @ManyToOne — that side is always the owner.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5 · Association Mapping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ASSOCIATION MAPPING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One-to-Many and Many-to-One Mapping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Uni-directional (Department → Employee): the parent alone knows about the child, so Hibernate creates a third join table (Department_Employee) holding both primary keys — this table cannot be avoided in a uni-directional mapping.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Many-to-one (Question → Answer): modeling from the "many" side needs only one extra foreign-key column on the child table — no join table at all.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Bi-directional (Merchant ↔ Product): @OneToMany goes on the non-owning side with mappedBy; @ManyToOne  goes on the owning side — this avoids creating a redundant third table.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@OneToMany and @ManyToMany must annotate a collection field, or Hibernate throws AnnotationException.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5 · Association Mapping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ASSOCIATION MAPPING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Many-to-Many Mapping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Example: many students attend many batches, and each batch has many students.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Uni-directional: @ManyToMany on one side always requires a join table — 3 tables total, and the join table cannot be avoided.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Bi-directional: annotating both sides naively creates two join tables (4 total). The owning side plus mappedBy on the other collapses this back to one join table (3 total).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5 · Association Mapping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ASSOCIATION MAPPING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Cascade Attribute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9" name="Table 0"/>
          <p:cNvGraphicFramePr/>
          <p:nvPr/>
        </p:nvGraphicFramePr>
        <p:xfrm>
          <a:off x="548640" y="1600200"/>
          <a:ext cx="10789560" cy="323172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CascadeType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Effect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1E2A38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PERSIST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Saving the parent also saves the child.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MERGE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Updating the parent also updates the child.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REMOVE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Deleting the parent also deletes the child.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DETACH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Detaching the parent also detaches the child from the session.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REFRESH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Refreshing the parent also refreshes the child.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ALL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All of the above — persist, merge, remove, refresh, and detach — cascade from parent to child.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50" name="Text 2"/>
          <p:cNvSpPr/>
          <p:nvPr/>
        </p:nvSpPr>
        <p:spPr>
          <a:xfrm>
            <a:off x="548640" y="6172200"/>
            <a:ext cx="1078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Cascade removes the need to call persist(), merge(), or remove() separately for every child entity, cutting boilerplate. Available on @OneToOne, @OneToMany, @ManyToOne, and @ManyToMany.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5 · Association Mapping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ASSOCIATION MAPPING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Fetch Attribute — Eager vs. Lazy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5" name="Table 0"/>
          <p:cNvGraphicFramePr/>
          <p:nvPr/>
        </p:nvGraphicFramePr>
        <p:xfrm>
          <a:off x="548640" y="1600200"/>
          <a:ext cx="10789560" cy="228600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Annotation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Default FetchType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1E2A38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@OneToOne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EAGER — the child loads automatically with the parent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@ManyToOne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EAGER — the child loads automatically with the parent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@OneToMany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LAZY — the child collection loads only on demand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@ManyToMany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B23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LAZY — the child collection loads only on demand</a:t>
                      </a:r>
                      <a:endParaRPr lang="en-IN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4"/>
                      </a:solidFill>
                      <a:prstDash val="solid"/>
                    </a:lnL>
                    <a:lnR w="9360">
                      <a:solidFill>
                        <a:srgbClr val="D8DEE4"/>
                      </a:solidFill>
                      <a:prstDash val="solid"/>
                    </a:lnR>
                    <a:lnT w="9360">
                      <a:solidFill>
                        <a:srgbClr val="D8DEE4"/>
                      </a:solidFill>
                      <a:prstDash val="solid"/>
                    </a:lnT>
                    <a:lnB w="9360">
                      <a:solidFill>
                        <a:srgbClr val="D8DEE4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56" name="Text 2"/>
          <p:cNvSpPr/>
          <p:nvPr/>
        </p:nvSpPr>
        <p:spPr>
          <a:xfrm>
            <a:off x="548640" y="6172200"/>
            <a:ext cx="1078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FetchType.EAGER loads the child alongside the parent; FetchType.LAZY defers loading until the child is actually accessed (e.g. calling a getter). Fetch is set explicitly with fetch = FetchType.EAGER/LAZY inside the association annotation.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5 · Association Mapping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ASSOCIATION MAPPING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Timestamp Annotations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Both annotations belong to Hibernate (org.hibernate.annotations), not to JPA.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@CreationTimestamp — stamps the field with the current date-time the first time the entity is saved; the value never changes afterward, even if other fields are updated.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@UpdateTimestamp — stamps the field with the current date-time on every save or update.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Typical use: an order's placed_time (creation-stamped, immutable) alongside its estimated delivery_time (update-stamped, recalculated whenever the order changes).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Backed by java.time.LocalDateTime — immutable, thread-safe, and created via now() or of(year, month, day, hour, minute, second).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5 · Association Mapping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-2286000" y="-2286000"/>
            <a:ext cx="6400080" cy="6400080"/>
          </a:xfrm>
          <a:prstGeom prst="ellipse">
            <a:avLst/>
          </a:prstGeom>
          <a:solidFill>
            <a:srgbClr val="243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914400" y="2286000"/>
            <a:ext cx="27424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0" b="1" u="none" strike="noStrike">
                <a:solidFill>
                  <a:srgbClr val="24344A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IN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914400" y="3429000"/>
            <a:ext cx="9600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Lifecycle, Caching &amp; Wrap-Up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914400" y="4343400"/>
            <a:ext cx="502200" cy="81720"/>
          </a:xfrm>
          <a:prstGeom prst="rect">
            <a:avLst/>
          </a:prstGeom>
          <a:solidFill>
            <a:srgbClr val="C97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914400" y="4572000"/>
            <a:ext cx="8686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AB8C4"/>
                </a:solidFill>
                <a:effectLst/>
                <a:uFillTx/>
                <a:latin typeface="Calibri"/>
                <a:ea typeface="Calibri"/>
              </a:rPr>
              <a:t>How Hibernate objects move through states, how caching cuts database traffic, and the key ideas to remember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LIFECYCLE &amp; CACHING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The Hibernate Object Lifecycle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Transient — a newly created object (via new) that represents no row yet; modifying it has no effect on the database.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Persistent — the object is connected to EntityManager and represents a real row; any modification updates that row directly. Reached via persist(), merge().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Detached — the object is disconnected from the EntityManager(e.g. the EM was closed, or detach() was called); it still exists in the database, but changes no longer propagate. find() can bring it back to Persistent state.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Removed — reached by calling remove(); remove() only works on a persistent object.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6 · Lifecycle &amp; Caching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LIFECYCLE &amp; CACHING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Caching in Hibernate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548640" y="1600200"/>
            <a:ext cx="5074200" cy="4571280"/>
          </a:xfrm>
          <a:prstGeom prst="rect">
            <a:avLst/>
          </a:prstGeom>
          <a:solidFill>
            <a:srgbClr val="F2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6172200" y="1600200"/>
            <a:ext cx="5074200" cy="4571280"/>
          </a:xfrm>
          <a:prstGeom prst="rect">
            <a:avLst/>
          </a:prstGeom>
          <a:solidFill>
            <a:srgbClr val="F2F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868680" y="1856160"/>
            <a:ext cx="4434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B7A7A"/>
                </a:solidFill>
                <a:effectLst/>
                <a:uFillTx/>
                <a:latin typeface="Calibri"/>
                <a:ea typeface="Calibri"/>
              </a:rPr>
              <a:t>First-level cache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6492240" y="1856160"/>
            <a:ext cx="4434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Second-level cache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868680" y="2377440"/>
            <a:ext cx="443412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Enabled by default, and cannot be disabled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Scoped to a single EntityManager— every session gets its own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Reduces repeated database hits within one session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6492240" y="2377440"/>
            <a:ext cx="443412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Shared across all sessions created by one EntityManagerFactory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Disabled by default — must be enabled explicitly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Requires an EHCache dependency, @Cacheable on the entity, and matching cache properties in the configuration file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6 · Lifecycle &amp; Caching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LIFECYCLE &amp; CACHING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Enabling the Second-Level Cache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Step 1 — Add the Hibernate EHCache dependency to pom.xml (matching the Hibernate Core version).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Step 2 — In persistence.xml, add &lt;shared-cache-mode&gt;ENABLE_SELECTIVE&lt;/shared-cache-mode&gt; just above &lt;properties&gt; — this enables caching only for entities explicitly marked cacheable.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Step 3 — Add the caching properties: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hibernate.cache.use_second_level_cache = true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28600" defTabSz="914400">
              <a:lnSpc>
                <a:spcPts val="2200"/>
              </a:lnSpc>
              <a:spcAft>
                <a:spcPts val="799"/>
              </a:spcAft>
              <a:buClr>
                <a:srgbClr val="51606E"/>
              </a:buClr>
              <a:buFont typeface="Symbol" charset="2"/>
              <a:buChar char=""/>
            </a:pPr>
            <a:r>
              <a:rPr lang="en-US" sz="145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hibernate.cache.region.factory_class = org.hibernate.cache.ehcache.EhCacheRegionFactory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Step 4 — Annotate the entity class with @Cacheable.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6 · Lifecycle &amp; Caching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548640" y="3841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9793B"/>
                </a:solidFill>
                <a:effectLst/>
                <a:uFillTx/>
                <a:latin typeface="Calibri"/>
                <a:ea typeface="Calibri"/>
              </a:rPr>
              <a:t>SUMMARY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548640" y="658440"/>
            <a:ext cx="10789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Key Takeaways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548640" y="1508760"/>
            <a:ext cx="107892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Hibernate removes JDBC's boilerplate by mapping POJOs directly to database tables through ORM.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JPA is a specification, not an implementation — it decouples application code from any one ORM tool, using @Entity, @Id, @GeneratedValue, and @Column with EntityManagerFactory / EntityManager / EntityTransaction.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Association mapping (OneToOne, OneToMany, ManyToOne, ManyToMany) models relationships; owning side vs. non-owning side controls how many foreign keys or join tables actually get created.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Cascade controls how parent operations propagate to children; fetch controls whether children load eagerly or on demand.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ts val="2200"/>
              </a:lnSpc>
              <a:spcAft>
                <a:spcPts val="1199"/>
              </a:spcAft>
              <a:buClr>
                <a:srgbClr val="1B2330"/>
              </a:buClr>
              <a:buFont typeface="OpenSymbol"/>
              <a:buChar char="▪"/>
            </a:pPr>
            <a:r>
              <a:rPr lang="en-US" sz="1600" b="0" u="none" strike="noStrike">
                <a:solidFill>
                  <a:srgbClr val="1B2330"/>
                </a:solidFill>
                <a:effectLst/>
                <a:uFillTx/>
                <a:latin typeface="Calibri"/>
                <a:ea typeface="Calibri"/>
              </a:rPr>
              <a:t>Objects move through four lifecycle states — transient, persistent, detached, removed — and Hibernate's two-level cache reduces repeated trips to the database.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548640" y="6510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Section 6 · Summary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8897040" y="6510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1606E"/>
                </a:solidFill>
                <a:effectLst/>
                <a:uFillTx/>
                <a:latin typeface="Calibri"/>
                <a:ea typeface="Calibri"/>
              </a:rPr>
              <a:t>Hibernate ORM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2026-07-11T16:31:00Z</dcterms:created>
  <dc:creator>PptxGenJS</dc:creator>
  <dc:description/>
  <dc:language>en-IN</dc:language>
  <cp:lastModifiedBy/>
  <dcterms:modified xsi:type="dcterms:W3CDTF">2026-07-16T07:27:02Z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44</vt:i4>
  </property>
  <property fmtid="{D5CDD505-2E9C-101B-9397-08002B2CF9AE}" pid="3" name="PresentationFormat">
    <vt:lpwstr>On-screen Show (16:9)</vt:lpwstr>
  </property>
  <property fmtid="{D5CDD505-2E9C-101B-9397-08002B2CF9AE}" pid="4" name="Slides">
    <vt:i4>44</vt:i4>
  </property>
</Properties>
</file>